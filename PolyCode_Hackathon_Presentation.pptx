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(Slide 1):</a:t>
            </a:r>
          </a:p>
          <a:p>
            <a:r>
              <a:t>Good morning respected judges and mentors. Today we present PolyCode: an enterprise-grade automated code assessment and compiler intelligence platform that replaces outdated black-box testing with transparent white-box compiler analytics, zero-trust microkernel security, and cutting-edge anti-cheat detection.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(Slide 2):</a:t>
            </a:r>
          </a:p>
          <a:p>
            <a:r>
              <a:t>Traditional online judges operate on a flawed black-box model: they test input and output only. With Generative AI, passing test cases is trivial. Candidates paste code without understanding memory structures or time complexity. Furthermore, running untrusted code in shared environments creates massive cloud security vulnerabilities. PolyCode delivers true white-box compiler analytics and zero-trust microkernel security.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(Slide 3):</a:t>
            </a:r>
          </a:p>
          <a:p>
            <a:r>
              <a:t>Our two flagship innovations are the 5-Stage Compiler Visualizer and the Multi-Engine Plagiarism Radar. Students and evaluators can step through lexical tokens, interactive AST trees, stack memory offsets, and real x86-64 assembly. Meanwhile, our Winnowing algorithm uses polynomial rolling hashes and AST isomorphism to catch LLM plagiarism even when candidates rename variables.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(Slide 4):</a:t>
            </a:r>
          </a:p>
          <a:p>
            <a:r>
              <a:t>For enterprise deployment at scale, our LTTS Sandbox fleet uses Google gVisor microkernels and Linux Seccomp filtering to block malicious syscalls. On the evaluation side, our multi-factor rubric weights correctness at 50%, code quality at 25%, security at 15%, and Big-O efficiency at 10%, generating formal engineering certificates.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(Slide 5 - Conclusion &amp; Q&amp;A Defense):</a:t>
            </a:r>
          </a:p>
          <a:p>
            <a:r>
              <a:t>To conclude, PolyCode bridges the critical gap between blind black-box testing and true compiler-level code intelligence. With 8 languages, gVisor zero-trust isolation, Winnowing AI fraud detection, and 5-stage compilation visibility, it is the definitive next-generation platform for academia and enterprise. Thank you, and we welcome all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728655" cy="5760720"/>
          </a:xfrm>
          <a:prstGeom prst="roundRect">
            <a:avLst/>
          </a:prstGeom>
          <a:solidFill>
            <a:srgbClr val="101726"/>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9966960" cy="1645920"/>
          </a:xfrm>
          <a:prstGeom prst="rect">
            <a:avLst/>
          </a:prstGeom>
          <a:noFill/>
        </p:spPr>
        <p:txBody>
          <a:bodyPr wrap="square">
            <a:spAutoFit/>
          </a:bodyPr>
          <a:lstStyle/>
          <a:p>
            <a:pPr algn="ctr">
              <a:defRPr sz="1100" b="1">
                <a:solidFill>
                  <a:srgbClr val="06B6D4"/>
                </a:solidFill>
                <a:latin typeface="Arial"/>
              </a:defRPr>
            </a:pPr>
            <a:r>
              <a:t>⚡ HACKATHON GRAND FINALE PRESENTATION</a:t>
            </a:r>
          </a:p>
          <a:p>
            <a:pPr algn="ctr">
              <a:defRPr sz="4400" b="1">
                <a:solidFill>
                  <a:srgbClr val="F8FAFC"/>
                </a:solidFill>
                <a:latin typeface="Arial"/>
              </a:defRPr>
            </a:pPr>
            <a:r>
              <a:t>PolyCode</a:t>
            </a:r>
          </a:p>
          <a:p>
            <a:pPr algn="ctr">
              <a:defRPr sz="1400">
                <a:solidFill>
                  <a:srgbClr val="94A3B8"/>
                </a:solidFill>
                <a:latin typeface="Arial"/>
              </a:defRPr>
            </a:pPr>
            <a:r>
              <a:t>Next-Gen Multi-Language Code Evaluation, 5-Stage Compiler Pipeline Inspection,</a:t>
            </a:r>
            <a:br/>
            <a:r>
              <a:t>AI Plagiarism Radar &amp; Hardened Zero-Trust Microkernel Sandbox Platform</a:t>
            </a:r>
          </a:p>
        </p:txBody>
      </p:sp>
      <p:sp>
        <p:nvSpPr>
          <p:cNvPr id="5" name="Rounded Rectangle 4"/>
          <p:cNvSpPr/>
          <p:nvPr/>
        </p:nvSpPr>
        <p:spPr>
          <a:xfrm>
            <a:off x="1097280" y="3108960"/>
            <a:ext cx="2423160" cy="1737360"/>
          </a:xfrm>
          <a:prstGeom prst="roundRect">
            <a:avLst/>
          </a:prstGeom>
          <a:solidFill>
            <a:srgbClr val="161E31"/>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39" y="3246120"/>
            <a:ext cx="2148840" cy="1463040"/>
          </a:xfrm>
          <a:prstGeom prst="rect">
            <a:avLst/>
          </a:prstGeom>
          <a:noFill/>
        </p:spPr>
        <p:txBody>
          <a:bodyPr wrap="square">
            <a:spAutoFit/>
          </a:bodyPr>
          <a:lstStyle/>
          <a:p>
            <a:pPr>
              <a:defRPr sz="2400" b="1">
                <a:solidFill>
                  <a:srgbClr val="6366F1"/>
                </a:solidFill>
                <a:latin typeface="Arial"/>
              </a:defRPr>
            </a:pPr>
            <a:r>
              <a:t>8</a:t>
            </a:r>
          </a:p>
          <a:p>
            <a:pPr>
              <a:defRPr sz="1000" b="1">
                <a:solidFill>
                  <a:srgbClr val="F8FAFC"/>
                </a:solidFill>
                <a:latin typeface="Arial"/>
              </a:defRPr>
            </a:pPr>
            <a:r>
              <a:t>POLYGLOT RUNTIMES</a:t>
            </a:r>
          </a:p>
          <a:p>
            <a:pPr>
              <a:defRPr sz="850">
                <a:solidFill>
                  <a:srgbClr val="94A3B8"/>
                </a:solidFill>
                <a:latin typeface="Arial"/>
              </a:defRPr>
            </a:pPr>
            <a:r>
              <a:t>Python, C++, Rust, Java, JS, TS, C, Go</a:t>
            </a:r>
          </a:p>
        </p:txBody>
      </p:sp>
      <p:sp>
        <p:nvSpPr>
          <p:cNvPr id="7" name="Rounded Rectangle 6"/>
          <p:cNvSpPr/>
          <p:nvPr/>
        </p:nvSpPr>
        <p:spPr>
          <a:xfrm>
            <a:off x="3611880" y="3108960"/>
            <a:ext cx="2423160" cy="1737360"/>
          </a:xfrm>
          <a:prstGeom prst="roundRect">
            <a:avLst/>
          </a:prstGeom>
          <a:solidFill>
            <a:srgbClr val="161E31"/>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0" y="3246120"/>
            <a:ext cx="2148840" cy="1463040"/>
          </a:xfrm>
          <a:prstGeom prst="rect">
            <a:avLst/>
          </a:prstGeom>
          <a:noFill/>
        </p:spPr>
        <p:txBody>
          <a:bodyPr wrap="square">
            <a:spAutoFit/>
          </a:bodyPr>
          <a:lstStyle/>
          <a:p>
            <a:pPr>
              <a:defRPr sz="2400" b="1">
                <a:solidFill>
                  <a:srgbClr val="06B6D4"/>
                </a:solidFill>
                <a:latin typeface="Arial"/>
              </a:defRPr>
            </a:pPr>
            <a:r>
              <a:t>5 Stages</a:t>
            </a:r>
          </a:p>
          <a:p>
            <a:pPr>
              <a:defRPr sz="1000" b="1">
                <a:solidFill>
                  <a:srgbClr val="F8FAFC"/>
                </a:solidFill>
                <a:latin typeface="Arial"/>
              </a:defRPr>
            </a:pPr>
            <a:r>
              <a:t>COMPILER PIPELINE</a:t>
            </a:r>
          </a:p>
          <a:p>
            <a:pPr>
              <a:defRPr sz="850">
                <a:solidFill>
                  <a:srgbClr val="94A3B8"/>
                </a:solidFill>
                <a:latin typeface="Arial"/>
              </a:defRPr>
            </a:pPr>
            <a:r>
              <a:t>Lexer, AST, Symbol Table, IR, CodeGen</a:t>
            </a:r>
          </a:p>
        </p:txBody>
      </p:sp>
      <p:sp>
        <p:nvSpPr>
          <p:cNvPr id="9" name="Rounded Rectangle 8"/>
          <p:cNvSpPr/>
          <p:nvPr/>
        </p:nvSpPr>
        <p:spPr>
          <a:xfrm>
            <a:off x="6126480" y="3108960"/>
            <a:ext cx="2423160" cy="1737360"/>
          </a:xfrm>
          <a:prstGeom prst="roundRect">
            <a:avLst/>
          </a:prstGeom>
          <a:solidFill>
            <a:srgbClr val="161E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3246120"/>
            <a:ext cx="2148840" cy="1463040"/>
          </a:xfrm>
          <a:prstGeom prst="rect">
            <a:avLst/>
          </a:prstGeom>
          <a:noFill/>
        </p:spPr>
        <p:txBody>
          <a:bodyPr wrap="square">
            <a:spAutoFit/>
          </a:bodyPr>
          <a:lstStyle/>
          <a:p>
            <a:pPr>
              <a:defRPr sz="2400" b="1">
                <a:solidFill>
                  <a:srgbClr val="10B981"/>
                </a:solidFill>
                <a:latin typeface="Arial"/>
              </a:defRPr>
            </a:pPr>
            <a:r>
              <a:t>&lt; 3.8 ms</a:t>
            </a:r>
          </a:p>
          <a:p>
            <a:pPr>
              <a:defRPr sz="1000" b="1">
                <a:solidFill>
                  <a:srgbClr val="F8FAFC"/>
                </a:solidFill>
                <a:latin typeface="Arial"/>
              </a:defRPr>
            </a:pPr>
            <a:r>
              <a:t>DISPATCH LATENCY</a:t>
            </a:r>
          </a:p>
          <a:p>
            <a:pPr>
              <a:defRPr sz="850">
                <a:solidFill>
                  <a:srgbClr val="94A3B8"/>
                </a:solidFill>
                <a:latin typeface="Arial"/>
              </a:defRPr>
            </a:pPr>
            <a:r>
              <a:t>Distributed Redis High-Throughput Queue</a:t>
            </a:r>
          </a:p>
        </p:txBody>
      </p:sp>
      <p:sp>
        <p:nvSpPr>
          <p:cNvPr id="11" name="Rounded Rectangle 10"/>
          <p:cNvSpPr/>
          <p:nvPr/>
        </p:nvSpPr>
        <p:spPr>
          <a:xfrm>
            <a:off x="8641080" y="3108960"/>
            <a:ext cx="2423160" cy="1737360"/>
          </a:xfrm>
          <a:prstGeom prst="roundRect">
            <a:avLst/>
          </a:prstGeom>
          <a:solidFill>
            <a:srgbClr val="161E31"/>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3246120"/>
            <a:ext cx="2148840" cy="1463040"/>
          </a:xfrm>
          <a:prstGeom prst="rect">
            <a:avLst/>
          </a:prstGeom>
          <a:noFill/>
        </p:spPr>
        <p:txBody>
          <a:bodyPr wrap="square">
            <a:spAutoFit/>
          </a:bodyPr>
          <a:lstStyle/>
          <a:p>
            <a:pPr>
              <a:defRPr sz="2400" b="1">
                <a:solidFill>
                  <a:srgbClr val="A855F7"/>
                </a:solidFill>
                <a:latin typeface="Arial"/>
              </a:defRPr>
            </a:pPr>
            <a:r>
              <a:t>95%</a:t>
            </a:r>
          </a:p>
          <a:p>
            <a:pPr>
              <a:defRPr sz="1000" b="1">
                <a:solidFill>
                  <a:srgbClr val="F8FAFC"/>
                </a:solidFill>
                <a:latin typeface="Arial"/>
              </a:defRPr>
            </a:pPr>
            <a:r>
              <a:t>AI FRAUD ACCURACY</a:t>
            </a:r>
          </a:p>
          <a:p>
            <a:pPr>
              <a:defRPr sz="850">
                <a:solidFill>
                  <a:srgbClr val="94A3B8"/>
                </a:solidFill>
                <a:latin typeface="Arial"/>
              </a:defRPr>
            </a:pPr>
            <a:r>
              <a:t>Winnowing N-gram + AST Isomorphism</a:t>
            </a:r>
          </a:p>
        </p:txBody>
      </p:sp>
      <p:sp>
        <p:nvSpPr>
          <p:cNvPr id="13" name="TextBox 12"/>
          <p:cNvSpPr txBox="1"/>
          <p:nvPr/>
        </p:nvSpPr>
        <p:spPr>
          <a:xfrm>
            <a:off x="1097280" y="5349240"/>
            <a:ext cx="9966960" cy="548640"/>
          </a:xfrm>
          <a:prstGeom prst="rect">
            <a:avLst/>
          </a:prstGeom>
          <a:noFill/>
        </p:spPr>
        <p:txBody>
          <a:bodyPr wrap="none">
            <a:spAutoFit/>
          </a:bodyPr>
          <a:lstStyle/>
          <a:p>
            <a:pPr algn="ctr">
              <a:defRPr sz="1100">
                <a:solidFill>
                  <a:srgbClr val="F8FAFC"/>
                </a:solidFill>
                <a:latin typeface="Arial"/>
              </a:defRPr>
            </a:pPr>
            <a:r>
              <a:t>🎯 Domain: Compiler Design • Cloud Security • AI Assessment  |  🏢 Enterprise Partner: LTTS (L&amp;T Technology Services) Architecture Alignment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Arial"/>
              </a:defRPr>
            </a:pPr>
            <a:r>
              <a:t>INDUSTRY PROBLEM VS. SOLUTION</a:t>
            </a:r>
          </a:p>
        </p:txBody>
      </p:sp>
      <p:sp>
        <p:nvSpPr>
          <p:cNvPr id="4" name="TextBox 3"/>
          <p:cNvSpPr txBox="1"/>
          <p:nvPr/>
        </p:nvSpPr>
        <p:spPr>
          <a:xfrm>
            <a:off x="731520" y="640080"/>
            <a:ext cx="9144000" cy="548640"/>
          </a:xfrm>
          <a:prstGeom prst="rect">
            <a:avLst/>
          </a:prstGeom>
          <a:noFill/>
        </p:spPr>
        <p:txBody>
          <a:bodyPr wrap="square">
            <a:spAutoFit/>
          </a:bodyPr>
          <a:lstStyle/>
          <a:p>
            <a:pPr>
              <a:defRPr sz="2200" b="1">
                <a:solidFill>
                  <a:srgbClr val="F8FAFC"/>
                </a:solidFill>
                <a:latin typeface="Arial"/>
              </a:defRPr>
            </a:pPr>
            <a:r>
              <a:t>The 'Black-Box' Coding Crisis vs. The PolyCode Paradigm</a:t>
            </a:r>
          </a:p>
        </p:txBody>
      </p:sp>
      <p:sp>
        <p:nvSpPr>
          <p:cNvPr id="5" name="TextBox 4"/>
          <p:cNvSpPr txBox="1"/>
          <p:nvPr/>
        </p:nvSpPr>
        <p:spPr>
          <a:xfrm>
            <a:off x="731520" y="1143000"/>
            <a:ext cx="9601200" cy="365760"/>
          </a:xfrm>
          <a:prstGeom prst="rect">
            <a:avLst/>
          </a:prstGeom>
          <a:noFill/>
        </p:spPr>
        <p:txBody>
          <a:bodyPr wrap="square">
            <a:spAutoFit/>
          </a:bodyPr>
          <a:lstStyle/>
          <a:p>
            <a:pPr>
              <a:defRPr sz="1200">
                <a:solidFill>
                  <a:srgbClr val="94A3B8"/>
                </a:solidFill>
                <a:latin typeface="Arial"/>
              </a:defRPr>
            </a:pPr>
            <a:r>
              <a:t>Why legacy judges fail in the AI era and how PolyCode delivers white-box intelligence</a:t>
            </a:r>
          </a:p>
        </p:txBody>
      </p:sp>
      <p:sp>
        <p:nvSpPr>
          <p:cNvPr id="6" name="TextBox 5"/>
          <p:cNvSpPr txBox="1"/>
          <p:nvPr/>
        </p:nvSpPr>
        <p:spPr>
          <a:xfrm>
            <a:off x="10332720" y="457200"/>
            <a:ext cx="1188720" cy="365760"/>
          </a:xfrm>
          <a:prstGeom prst="rect">
            <a:avLst/>
          </a:prstGeom>
          <a:noFill/>
        </p:spPr>
        <p:txBody>
          <a:bodyPr wrap="none">
            <a:spAutoFit/>
          </a:bodyPr>
          <a:lstStyle/>
          <a:p>
            <a:pPr algn="r">
              <a:defRPr sz="1100" b="1">
                <a:solidFill>
                  <a:srgbClr val="6366F1"/>
                </a:solidFill>
                <a:latin typeface="Arial"/>
              </a:defRPr>
            </a:pPr>
            <a:r>
              <a:t>Slide 2 / 5</a:t>
            </a:r>
          </a:p>
        </p:txBody>
      </p:sp>
      <p:sp>
        <p:nvSpPr>
          <p:cNvPr id="7" name="Rounded Rectangle 6"/>
          <p:cNvSpPr/>
          <p:nvPr/>
        </p:nvSpPr>
        <p:spPr>
          <a:xfrm>
            <a:off x="731520" y="1645920"/>
            <a:ext cx="5212080" cy="3474720"/>
          </a:xfrm>
          <a:prstGeom prst="roundRect">
            <a:avLst/>
          </a:prstGeom>
          <a:solidFill>
            <a:srgbClr val="19141E"/>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200400"/>
          </a:xfrm>
          <a:prstGeom prst="rect">
            <a:avLst/>
          </a:prstGeom>
          <a:noFill/>
        </p:spPr>
        <p:txBody>
          <a:bodyPr wrap="square">
            <a:spAutoFit/>
          </a:bodyPr>
          <a:lstStyle/>
          <a:p>
            <a:pPr>
              <a:defRPr sz="1300" b="1">
                <a:solidFill>
                  <a:srgbClr val="F43F5E"/>
                </a:solidFill>
                <a:latin typeface="Arial"/>
              </a:defRPr>
            </a:pPr>
            <a:r>
              <a:t>❌ Critical Gaps in Traditional Judges (LeetCode / HackerRank)</a:t>
            </a:r>
          </a:p>
          <a:p>
            <a:pPr>
              <a:defRPr b="1" sz="1000">
                <a:solidFill>
                  <a:srgbClr val="F8FAFC"/>
                </a:solidFill>
                <a:latin typeface="Arial"/>
              </a:defRPr>
            </a:pPr>
            <a:r>
              <a:t>• Blind I/O Black-Box Matching: </a:t>
            </a:r>
            <a:r>
              <a:rPr b="0">
                <a:solidFill>
                  <a:srgbClr val="94A3B8"/>
                </a:solidFill>
              </a:rPr>
              <a:t>Only verifies stdin-&gt;stdout. Ignores memory leaks, scope hygiene, bad architecture, and CPU instruction efficiency.</a:t>
            </a:r>
          </a:p>
          <a:p>
            <a:pPr>
              <a:defRPr b="1" sz="1000">
                <a:solidFill>
                  <a:srgbClr val="F8FAFC"/>
                </a:solidFill>
                <a:latin typeface="Arial"/>
              </a:defRPr>
            </a:pPr>
            <a:r>
              <a:t>• Rampant AI Copy-Pasting: </a:t>
            </a:r>
            <a:r>
              <a:rPr b="0">
                <a:solidFill>
                  <a:srgbClr val="94A3B8"/>
                </a:solidFill>
              </a:rPr>
              <a:t>Over 65% of test submissions are copied from ChatGPT/Copilot. Naive string checkers fail when candidates rename variables.</a:t>
            </a:r>
          </a:p>
          <a:p>
            <a:pPr>
              <a:defRPr b="1" sz="1000">
                <a:solidFill>
                  <a:srgbClr val="F8FAFC"/>
                </a:solidFill>
                <a:latin typeface="Arial"/>
              </a:defRPr>
            </a:pPr>
            <a:r>
              <a:t>• Severe Cloud Host Vulnerabilities: </a:t>
            </a:r>
            <a:r>
              <a:rPr b="0">
                <a:solidFill>
                  <a:srgbClr val="94A3B8"/>
                </a:solidFill>
              </a:rPr>
              <a:t>Executing untrusted candidate code on shared Docker hosts leaves servers vulnerable to fork bombs, memory snooping, and container escapes.</a:t>
            </a:r>
          </a:p>
        </p:txBody>
      </p:sp>
      <p:sp>
        <p:nvSpPr>
          <p:cNvPr id="9" name="Rounded Rectangle 8"/>
          <p:cNvSpPr/>
          <p:nvPr/>
        </p:nvSpPr>
        <p:spPr>
          <a:xfrm>
            <a:off x="6217920" y="1645920"/>
            <a:ext cx="5212080" cy="3474720"/>
          </a:xfrm>
          <a:prstGeom prst="roundRect">
            <a:avLst/>
          </a:prstGeom>
          <a:solidFill>
            <a:srgbClr val="121E2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83080"/>
            <a:ext cx="4937760" cy="3200400"/>
          </a:xfrm>
          <a:prstGeom prst="rect">
            <a:avLst/>
          </a:prstGeom>
          <a:noFill/>
        </p:spPr>
        <p:txBody>
          <a:bodyPr wrap="square">
            <a:spAutoFit/>
          </a:bodyPr>
          <a:lstStyle/>
          <a:p>
            <a:pPr>
              <a:defRPr sz="1300" b="1">
                <a:solidFill>
                  <a:srgbClr val="10B981"/>
                </a:solidFill>
                <a:latin typeface="Arial"/>
              </a:defRPr>
            </a:pPr>
            <a:r>
              <a:t>✅ The PolyCode Solution: 'White-Box' Compiler Intelligence</a:t>
            </a:r>
          </a:p>
          <a:p>
            <a:pPr>
              <a:defRPr b="1" sz="1000">
                <a:solidFill>
                  <a:srgbClr val="F8FAFC"/>
                </a:solidFill>
                <a:latin typeface="Arial"/>
              </a:defRPr>
            </a:pPr>
            <a:r>
              <a:t>• 5-Stage Live Compiler Inspection: </a:t>
            </a:r>
            <a:r>
              <a:rPr b="0">
                <a:solidFill>
                  <a:srgbClr val="94A3B8"/>
                </a:solidFill>
              </a:rPr>
              <a:t>Dissects source code into Token Streams, ASTs, Scope Symbol Tables, IR Optimization Passes, and multi-target Disassembly.</a:t>
            </a:r>
          </a:p>
          <a:p>
            <a:pPr>
              <a:defRPr b="1" sz="1000">
                <a:solidFill>
                  <a:srgbClr val="F8FAFC"/>
                </a:solidFill>
                <a:latin typeface="Arial"/>
              </a:defRPr>
            </a:pPr>
            <a:r>
              <a:t>• Multi-Engine AI Plagiarism Radar: </a:t>
            </a:r>
            <a:r>
              <a:rPr b="0">
                <a:solidFill>
                  <a:srgbClr val="94A3B8"/>
                </a:solidFill>
              </a:rPr>
              <a:t>Combines Winnowing N-gram rolling hashes + AST isomorphism to detect LLM plagiarism regardless of renamed variables.</a:t>
            </a:r>
          </a:p>
          <a:p>
            <a:pPr>
              <a:defRPr b="1" sz="1000">
                <a:solidFill>
                  <a:srgbClr val="F8FAFC"/>
                </a:solidFill>
                <a:latin typeface="Arial"/>
              </a:defRPr>
            </a:pPr>
            <a:r>
              <a:t>• 4-Tier Zero-Trust Sandbox Fleet: </a:t>
            </a:r>
            <a:r>
              <a:rPr b="0">
                <a:solidFill>
                  <a:srgbClr val="94A3B8"/>
                </a:solidFill>
              </a:rPr>
              <a:t>Hardened with Google gVisor (runsc) microkernels, Seccomp syscall filtering, and sub-4ms Redis distributed queues.</a:t>
            </a:r>
          </a:p>
        </p:txBody>
      </p:sp>
      <p:sp>
        <p:nvSpPr>
          <p:cNvPr id="11" name="Rounded Rectangle 10"/>
          <p:cNvSpPr/>
          <p:nvPr/>
        </p:nvSpPr>
        <p:spPr>
          <a:xfrm>
            <a:off x="731520" y="5303520"/>
            <a:ext cx="10728655" cy="1005840"/>
          </a:xfrm>
          <a:prstGeom prst="roundRect">
            <a:avLst/>
          </a:prstGeom>
          <a:solidFill>
            <a:srgbClr val="141A2C"/>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394960"/>
            <a:ext cx="10332720" cy="822960"/>
          </a:xfrm>
          <a:prstGeom prst="rect">
            <a:avLst/>
          </a:prstGeom>
          <a:noFill/>
        </p:spPr>
        <p:txBody>
          <a:bodyPr wrap="square">
            <a:spAutoFit/>
          </a:bodyPr>
          <a:lstStyle/>
          <a:p>
            <a:pPr>
              <a:defRPr sz="1150" b="1">
                <a:solidFill>
                  <a:srgbClr val="F8FAFC"/>
                </a:solidFill>
                <a:latin typeface="Arial"/>
              </a:defRPr>
            </a:pPr>
            <a:r>
              <a:t>📊 Key Takeaway: Traditional platforms test WHAT code outputs; PolyCode inspects HOW code compiles, executes, and scales securely.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Arial"/>
              </a:defRPr>
            </a:pPr>
            <a:r>
              <a:t>CORE TECHNICAL INNOVATION</a:t>
            </a:r>
          </a:p>
        </p:txBody>
      </p:sp>
      <p:sp>
        <p:nvSpPr>
          <p:cNvPr id="4" name="TextBox 3"/>
          <p:cNvSpPr txBox="1"/>
          <p:nvPr/>
        </p:nvSpPr>
        <p:spPr>
          <a:xfrm>
            <a:off x="731520" y="640080"/>
            <a:ext cx="9144000" cy="548640"/>
          </a:xfrm>
          <a:prstGeom prst="rect">
            <a:avLst/>
          </a:prstGeom>
          <a:noFill/>
        </p:spPr>
        <p:txBody>
          <a:bodyPr wrap="square">
            <a:spAutoFit/>
          </a:bodyPr>
          <a:lstStyle/>
          <a:p>
            <a:pPr>
              <a:defRPr sz="2200" b="1">
                <a:solidFill>
                  <a:srgbClr val="F8FAFC"/>
                </a:solidFill>
                <a:latin typeface="Arial"/>
              </a:defRPr>
            </a:pPr>
            <a:r>
              <a:t>5-Stage Compiler Visualizer &amp; AI Plagiarism Radar</a:t>
            </a:r>
          </a:p>
        </p:txBody>
      </p:sp>
      <p:sp>
        <p:nvSpPr>
          <p:cNvPr id="5" name="TextBox 4"/>
          <p:cNvSpPr txBox="1"/>
          <p:nvPr/>
        </p:nvSpPr>
        <p:spPr>
          <a:xfrm>
            <a:off x="731520" y="1143000"/>
            <a:ext cx="9601200" cy="365760"/>
          </a:xfrm>
          <a:prstGeom prst="rect">
            <a:avLst/>
          </a:prstGeom>
          <a:noFill/>
        </p:spPr>
        <p:txBody>
          <a:bodyPr wrap="square">
            <a:spAutoFit/>
          </a:bodyPr>
          <a:lstStyle/>
          <a:p>
            <a:pPr>
              <a:defRPr sz="1200">
                <a:solidFill>
                  <a:srgbClr val="94A3B8"/>
                </a:solidFill>
                <a:latin typeface="Arial"/>
              </a:defRPr>
            </a:pPr>
            <a:r>
              <a:t>Unpacking source code internals in real time and defeating AI-generated fraud</a:t>
            </a:r>
          </a:p>
        </p:txBody>
      </p:sp>
      <p:sp>
        <p:nvSpPr>
          <p:cNvPr id="6" name="TextBox 5"/>
          <p:cNvSpPr txBox="1"/>
          <p:nvPr/>
        </p:nvSpPr>
        <p:spPr>
          <a:xfrm>
            <a:off x="10332720" y="457200"/>
            <a:ext cx="1188720" cy="365760"/>
          </a:xfrm>
          <a:prstGeom prst="rect">
            <a:avLst/>
          </a:prstGeom>
          <a:noFill/>
        </p:spPr>
        <p:txBody>
          <a:bodyPr wrap="none">
            <a:spAutoFit/>
          </a:bodyPr>
          <a:lstStyle/>
          <a:p>
            <a:pPr algn="r">
              <a:defRPr sz="1100" b="1">
                <a:solidFill>
                  <a:srgbClr val="6366F1"/>
                </a:solidFill>
                <a:latin typeface="Arial"/>
              </a:defRPr>
            </a:pPr>
            <a:r>
              <a:t>Slide 3 / 5</a:t>
            </a:r>
          </a:p>
        </p:txBody>
      </p:sp>
      <p:sp>
        <p:nvSpPr>
          <p:cNvPr id="7" name="Rounded Rectangle 6"/>
          <p:cNvSpPr/>
          <p:nvPr/>
        </p:nvSpPr>
        <p:spPr>
          <a:xfrm>
            <a:off x="731520" y="1645920"/>
            <a:ext cx="5212080" cy="3840480"/>
          </a:xfrm>
          <a:prstGeom prst="roundRect">
            <a:avLst/>
          </a:prstGeom>
          <a:solidFill>
            <a:srgbClr val="141A2C"/>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566160"/>
          </a:xfrm>
          <a:prstGeom prst="rect">
            <a:avLst/>
          </a:prstGeom>
          <a:noFill/>
        </p:spPr>
        <p:txBody>
          <a:bodyPr wrap="square">
            <a:spAutoFit/>
          </a:bodyPr>
          <a:lstStyle/>
          <a:p>
            <a:pPr>
              <a:defRPr sz="1300" b="1">
                <a:solidFill>
                  <a:srgbClr val="6366F1"/>
                </a:solidFill>
                <a:latin typeface="Arial"/>
              </a:defRPr>
            </a:pPr>
            <a:r>
              <a:t>🔬 5-Stage Compiler Pipeline Visualizer</a:t>
            </a:r>
          </a:p>
          <a:p>
            <a:pPr>
              <a:defRPr b="1" sz="950">
                <a:solidFill>
                  <a:srgbClr val="F8FAFC"/>
                </a:solidFill>
                <a:latin typeface="Arial"/>
              </a:defRPr>
            </a:pPr>
            <a:r>
              <a:t>• Stage 1 - Lexical Analysis: </a:t>
            </a:r>
            <a:r>
              <a:rPr b="0">
                <a:solidFill>
                  <a:srgbClr val="94A3B8"/>
                </a:solidFill>
              </a:rPr>
              <a:t>Regex scanner categorizes Keywords, Types, Literals, and Operators with line/col coordinates.</a:t>
            </a:r>
          </a:p>
          <a:p>
            <a:pPr>
              <a:defRPr b="1" sz="950">
                <a:solidFill>
                  <a:srgbClr val="F8FAFC"/>
                </a:solidFill>
                <a:latin typeface="Arial"/>
              </a:defRPr>
            </a:pPr>
            <a:r>
              <a:t>• Stage 2 - Syntax AST Parsing: </a:t>
            </a:r>
            <a:r>
              <a:rPr b="0">
                <a:solidFill>
                  <a:srgbClr val="94A3B8"/>
                </a:solidFill>
              </a:rPr>
              <a:t>Constructs interactive hierarchical Abstract Syntax Trees with scope depth markers.</a:t>
            </a:r>
          </a:p>
          <a:p>
            <a:pPr>
              <a:defRPr b="1" sz="950">
                <a:solidFill>
                  <a:srgbClr val="F8FAFC"/>
                </a:solidFill>
                <a:latin typeface="Arial"/>
              </a:defRPr>
            </a:pPr>
            <a:r>
              <a:t>• Stage 3 - Semantic Symbol Table: </a:t>
            </a:r>
            <a:r>
              <a:rPr b="0">
                <a:solidFill>
                  <a:srgbClr val="94A3B8"/>
                </a:solidFill>
              </a:rPr>
              <a:t>Resolves identifier scopes, mutability, and stack memory offsets (e.g. [rbp-8]).</a:t>
            </a:r>
          </a:p>
          <a:p>
            <a:pPr>
              <a:defRPr b="1" sz="950">
                <a:solidFill>
                  <a:srgbClr val="F8FAFC"/>
                </a:solidFill>
                <a:latin typeface="Arial"/>
              </a:defRPr>
            </a:pPr>
            <a:r>
              <a:t>• Stage 4 - IR Optimization: </a:t>
            </a:r>
            <a:r>
              <a:rPr b="0">
                <a:solidFill>
                  <a:srgbClr val="94A3B8"/>
                </a:solidFill>
              </a:rPr>
              <a:t>Constant Folding (-O2), Dead Code Elimination (DCE), and Control Flow Graphs (CFG).</a:t>
            </a:r>
          </a:p>
          <a:p>
            <a:pPr>
              <a:defRPr b="1" sz="950">
                <a:solidFill>
                  <a:srgbClr val="F8FAFC"/>
                </a:solidFill>
                <a:latin typeface="Arial"/>
              </a:defRPr>
            </a:pPr>
            <a:r>
              <a:t>• Stage 5 - Code Generation: </a:t>
            </a:r>
            <a:r>
              <a:rPr b="0">
                <a:solidFill>
                  <a:srgbClr val="94A3B8"/>
                </a:solidFill>
              </a:rPr>
              <a:t>Emits native assembly for x86-64, ARM64, WASM, and Python Bytecode.</a:t>
            </a:r>
          </a:p>
        </p:txBody>
      </p:sp>
      <p:sp>
        <p:nvSpPr>
          <p:cNvPr id="9" name="Rounded Rectangle 8"/>
          <p:cNvSpPr/>
          <p:nvPr/>
        </p:nvSpPr>
        <p:spPr>
          <a:xfrm>
            <a:off x="6217920" y="1645920"/>
            <a:ext cx="5212080" cy="3840480"/>
          </a:xfrm>
          <a:prstGeom prst="roundRect">
            <a:avLst/>
          </a:prstGeom>
          <a:solidFill>
            <a:srgbClr val="1A1626"/>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83080"/>
            <a:ext cx="4937760" cy="3566160"/>
          </a:xfrm>
          <a:prstGeom prst="rect">
            <a:avLst/>
          </a:prstGeom>
          <a:noFill/>
        </p:spPr>
        <p:txBody>
          <a:bodyPr wrap="square">
            <a:spAutoFit/>
          </a:bodyPr>
          <a:lstStyle/>
          <a:p>
            <a:pPr>
              <a:defRPr sz="1300" b="1">
                <a:solidFill>
                  <a:srgbClr val="A855F7"/>
                </a:solidFill>
                <a:latin typeface="Arial"/>
              </a:defRPr>
            </a:pPr>
            <a:r>
              <a:t>🛡️ Multi-Algorithmic AI Plagiarism Radar</a:t>
            </a:r>
          </a:p>
          <a:p>
            <a:pPr>
              <a:defRPr b="1" sz="950">
                <a:solidFill>
                  <a:srgbClr val="F8FAFC"/>
                </a:solidFill>
                <a:latin typeface="Arial"/>
              </a:defRPr>
            </a:pPr>
            <a:r>
              <a:t>• Winnowing (Rabin-Karp Hashes): </a:t>
            </a:r>
            <a:r>
              <a:rPr b="0">
                <a:solidFill>
                  <a:srgbClr val="94A3B8"/>
                </a:solidFill>
              </a:rPr>
              <a:t>Normalized k-gram fingerprinting over sliding windows; immune to renamed variables &amp; formatting.</a:t>
            </a:r>
          </a:p>
          <a:p>
            <a:pPr>
              <a:defRPr b="1" sz="950">
                <a:solidFill>
                  <a:srgbClr val="F8FAFC"/>
                </a:solidFill>
                <a:latin typeface="Arial"/>
              </a:defRPr>
            </a:pPr>
            <a:r>
              <a:t>• AST Isomorphism Structural Match: </a:t>
            </a:r>
            <a:r>
              <a:rPr b="0">
                <a:solidFill>
                  <a:srgbClr val="94A3B8"/>
                </a:solidFill>
              </a:rPr>
              <a:t>Compares syntax tree topology to detect algorithmic clones even if syntax is refactored.</a:t>
            </a:r>
          </a:p>
          <a:p>
            <a:pPr>
              <a:defRPr b="1" sz="950">
                <a:solidFill>
                  <a:srgbClr val="F8FAFC"/>
                </a:solidFill>
                <a:latin typeface="Arial"/>
              </a:defRPr>
            </a:pPr>
            <a:r>
              <a:t>• AI Synthesis Probability Estimator: </a:t>
            </a:r>
            <a:r>
              <a:rPr b="0">
                <a:solidFill>
                  <a:srgbClr val="94A3B8"/>
                </a:solidFill>
              </a:rPr>
              <a:t>Evaluates identifier entropy, canonical docstrings, and signature patterns common to ChatGPT &amp; Copilot.</a:t>
            </a:r>
          </a:p>
          <a:p>
            <a:pPr>
              <a:defRPr b="1" sz="950">
                <a:solidFill>
                  <a:srgbClr val="F8FAFC"/>
                </a:solidFill>
                <a:latin typeface="Arial"/>
              </a:defRPr>
            </a:pPr>
            <a:r>
              <a:t>• Synchronized Diff Inspector: </a:t>
            </a:r>
            <a:r>
              <a:rPr b="0">
                <a:solidFill>
                  <a:srgbClr val="94A3B8"/>
                </a:solidFill>
              </a:rPr>
              <a:t>Side-by-side comparative split screen against AI canonical solution variants.</a:t>
            </a:r>
          </a:p>
        </p:txBody>
      </p:sp>
      <p:sp>
        <p:nvSpPr>
          <p:cNvPr id="11" name="Rounded Rectangle 10"/>
          <p:cNvSpPr/>
          <p:nvPr/>
        </p:nvSpPr>
        <p:spPr>
          <a:xfrm>
            <a:off x="731520" y="5623560"/>
            <a:ext cx="2514600" cy="685800"/>
          </a:xfrm>
          <a:prstGeom prst="roundRect">
            <a:avLst/>
          </a:prstGeom>
          <a:solidFill>
            <a:srgbClr val="161E31"/>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715000"/>
            <a:ext cx="2331720" cy="502920"/>
          </a:xfrm>
          <a:prstGeom prst="rect">
            <a:avLst/>
          </a:prstGeom>
          <a:noFill/>
        </p:spPr>
        <p:txBody>
          <a:bodyPr wrap="none">
            <a:spAutoFit/>
          </a:bodyPr>
          <a:lstStyle/>
          <a:p>
            <a:pPr algn="ctr">
              <a:defRPr sz="950" b="1">
                <a:solidFill>
                  <a:srgbClr val="06B6D4"/>
                </a:solidFill>
                <a:latin typeface="Arial"/>
              </a:defRPr>
            </a:pPr>
            <a:r>
              <a:t>100% Client-Side Reactivity</a:t>
            </a:r>
          </a:p>
        </p:txBody>
      </p:sp>
      <p:sp>
        <p:nvSpPr>
          <p:cNvPr id="13" name="Rounded Rectangle 12"/>
          <p:cNvSpPr/>
          <p:nvPr/>
        </p:nvSpPr>
        <p:spPr>
          <a:xfrm>
            <a:off x="3474720" y="5623560"/>
            <a:ext cx="2514600" cy="685800"/>
          </a:xfrm>
          <a:prstGeom prst="roundRect">
            <a:avLst/>
          </a:prstGeom>
          <a:solidFill>
            <a:srgbClr val="161E31"/>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5715000"/>
            <a:ext cx="2331720" cy="502920"/>
          </a:xfrm>
          <a:prstGeom prst="rect">
            <a:avLst/>
          </a:prstGeom>
          <a:noFill/>
        </p:spPr>
        <p:txBody>
          <a:bodyPr wrap="none">
            <a:spAutoFit/>
          </a:bodyPr>
          <a:lstStyle/>
          <a:p>
            <a:pPr algn="ctr">
              <a:defRPr sz="950" b="1">
                <a:solidFill>
                  <a:srgbClr val="6366F1"/>
                </a:solidFill>
                <a:latin typeface="Arial"/>
              </a:defRPr>
            </a:pPr>
            <a:r>
              <a:t>4 Target Disassembly Architectures</a:t>
            </a:r>
          </a:p>
        </p:txBody>
      </p:sp>
      <p:sp>
        <p:nvSpPr>
          <p:cNvPr id="15" name="Rounded Rectangle 14"/>
          <p:cNvSpPr/>
          <p:nvPr/>
        </p:nvSpPr>
        <p:spPr>
          <a:xfrm>
            <a:off x="6217920" y="5623560"/>
            <a:ext cx="2514600" cy="685800"/>
          </a:xfrm>
          <a:prstGeom prst="roundRect">
            <a:avLst/>
          </a:prstGeom>
          <a:solidFill>
            <a:srgbClr val="161E31"/>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59" y="5715000"/>
            <a:ext cx="2331720" cy="502920"/>
          </a:xfrm>
          <a:prstGeom prst="rect">
            <a:avLst/>
          </a:prstGeom>
          <a:noFill/>
        </p:spPr>
        <p:txBody>
          <a:bodyPr wrap="none">
            <a:spAutoFit/>
          </a:bodyPr>
          <a:lstStyle/>
          <a:p>
            <a:pPr algn="ctr">
              <a:defRPr sz="950" b="1">
                <a:solidFill>
                  <a:srgbClr val="F59E0B"/>
                </a:solidFill>
                <a:latin typeface="Arial"/>
              </a:defRPr>
            </a:pPr>
            <a:r>
              <a:t>O(1) Rolling Hash Winnowing</a:t>
            </a:r>
          </a:p>
        </p:txBody>
      </p:sp>
      <p:sp>
        <p:nvSpPr>
          <p:cNvPr id="17" name="Rounded Rectangle 16"/>
          <p:cNvSpPr/>
          <p:nvPr/>
        </p:nvSpPr>
        <p:spPr>
          <a:xfrm>
            <a:off x="8961120" y="5623560"/>
            <a:ext cx="2514600" cy="685800"/>
          </a:xfrm>
          <a:prstGeom prst="roundRect">
            <a:avLst/>
          </a:prstGeom>
          <a:solidFill>
            <a:srgbClr val="161E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5715000"/>
            <a:ext cx="2331720" cy="502920"/>
          </a:xfrm>
          <a:prstGeom prst="rect">
            <a:avLst/>
          </a:prstGeom>
          <a:noFill/>
        </p:spPr>
        <p:txBody>
          <a:bodyPr wrap="none">
            <a:spAutoFit/>
          </a:bodyPr>
          <a:lstStyle/>
          <a:p>
            <a:pPr algn="ctr">
              <a:defRPr sz="950" b="1">
                <a:solidFill>
                  <a:srgbClr val="10B981"/>
                </a:solidFill>
                <a:latin typeface="Arial"/>
              </a:defRPr>
            </a:pPr>
            <a:r>
              <a:t>Sub-millisecond AST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Arial"/>
              </a:defRPr>
            </a:pPr>
            <a:r>
              <a:t>ENTERPRISE SECURITY &amp; EVALUATION</a:t>
            </a:r>
          </a:p>
        </p:txBody>
      </p:sp>
      <p:sp>
        <p:nvSpPr>
          <p:cNvPr id="4" name="TextBox 3"/>
          <p:cNvSpPr txBox="1"/>
          <p:nvPr/>
        </p:nvSpPr>
        <p:spPr>
          <a:xfrm>
            <a:off x="731520" y="640080"/>
            <a:ext cx="9144000" cy="548640"/>
          </a:xfrm>
          <a:prstGeom prst="rect">
            <a:avLst/>
          </a:prstGeom>
          <a:noFill/>
        </p:spPr>
        <p:txBody>
          <a:bodyPr wrap="square">
            <a:spAutoFit/>
          </a:bodyPr>
          <a:lstStyle/>
          <a:p>
            <a:pPr>
              <a:defRPr sz="2200" b="1">
                <a:solidFill>
                  <a:srgbClr val="F8FAFC"/>
                </a:solidFill>
                <a:latin typeface="Arial"/>
              </a:defRPr>
            </a:pPr>
            <a:r>
              <a:t>LTTS Zero-Trust Sandbox Fleet &amp; Multi-Factor Rubric</a:t>
            </a:r>
          </a:p>
        </p:txBody>
      </p:sp>
      <p:sp>
        <p:nvSpPr>
          <p:cNvPr id="5" name="TextBox 4"/>
          <p:cNvSpPr txBox="1"/>
          <p:nvPr/>
        </p:nvSpPr>
        <p:spPr>
          <a:xfrm>
            <a:off x="731520" y="1143000"/>
            <a:ext cx="9601200" cy="365760"/>
          </a:xfrm>
          <a:prstGeom prst="rect">
            <a:avLst/>
          </a:prstGeom>
          <a:noFill/>
        </p:spPr>
        <p:txBody>
          <a:bodyPr wrap="square">
            <a:spAutoFit/>
          </a:bodyPr>
          <a:lstStyle/>
          <a:p>
            <a:pPr>
              <a:defRPr sz="1200">
                <a:solidFill>
                  <a:srgbClr val="94A3B8"/>
                </a:solidFill>
                <a:latin typeface="Arial"/>
              </a:defRPr>
            </a:pPr>
            <a:r>
              <a:t>Production-grade microkernel containerization and multi-dimensional scoring</a:t>
            </a:r>
          </a:p>
        </p:txBody>
      </p:sp>
      <p:sp>
        <p:nvSpPr>
          <p:cNvPr id="6" name="TextBox 5"/>
          <p:cNvSpPr txBox="1"/>
          <p:nvPr/>
        </p:nvSpPr>
        <p:spPr>
          <a:xfrm>
            <a:off x="10332720" y="457200"/>
            <a:ext cx="1188720" cy="365760"/>
          </a:xfrm>
          <a:prstGeom prst="rect">
            <a:avLst/>
          </a:prstGeom>
          <a:noFill/>
        </p:spPr>
        <p:txBody>
          <a:bodyPr wrap="none">
            <a:spAutoFit/>
          </a:bodyPr>
          <a:lstStyle/>
          <a:p>
            <a:pPr algn="r">
              <a:defRPr sz="1100" b="1">
                <a:solidFill>
                  <a:srgbClr val="6366F1"/>
                </a:solidFill>
                <a:latin typeface="Arial"/>
              </a:defRPr>
            </a:pPr>
            <a:r>
              <a:t>Slide 4 / 5</a:t>
            </a:r>
          </a:p>
        </p:txBody>
      </p:sp>
      <p:sp>
        <p:nvSpPr>
          <p:cNvPr id="7" name="Rounded Rectangle 6"/>
          <p:cNvSpPr/>
          <p:nvPr/>
        </p:nvSpPr>
        <p:spPr>
          <a:xfrm>
            <a:off x="731520" y="1645920"/>
            <a:ext cx="5212080" cy="3840480"/>
          </a:xfrm>
          <a:prstGeom prst="roundRect">
            <a:avLst/>
          </a:prstGeom>
          <a:solidFill>
            <a:srgbClr val="101A24"/>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566160"/>
          </a:xfrm>
          <a:prstGeom prst="rect">
            <a:avLst/>
          </a:prstGeom>
          <a:noFill/>
        </p:spPr>
        <p:txBody>
          <a:bodyPr wrap="square">
            <a:spAutoFit/>
          </a:bodyPr>
          <a:lstStyle/>
          <a:p>
            <a:pPr>
              <a:defRPr sz="1300" b="1">
                <a:solidFill>
                  <a:srgbClr val="06B6D4"/>
                </a:solidFill>
                <a:latin typeface="Arial"/>
              </a:defRPr>
            </a:pPr>
            <a:r>
              <a:t>🛡️ LTTS Zero-Trust Sandbox Fleet</a:t>
            </a:r>
          </a:p>
          <a:p>
            <a:pPr>
              <a:defRPr b="1" sz="950">
                <a:solidFill>
                  <a:srgbClr val="F8FAFC"/>
                </a:solidFill>
                <a:latin typeface="Arial"/>
              </a:defRPr>
            </a:pPr>
            <a:r>
              <a:t>• Google gVisor (runsc) Microkernel: </a:t>
            </a:r>
            <a:r>
              <a:rPr b="0">
                <a:solidFill>
                  <a:srgbClr val="94A3B8"/>
                </a:solidFill>
              </a:rPr>
              <a:t>Untrusted code runs in a virtualized user-space microkernel, blocking direct access to the Linux host kernel.</a:t>
            </a:r>
          </a:p>
          <a:p>
            <a:pPr>
              <a:defRPr b="1" sz="950">
                <a:solidFill>
                  <a:srgbClr val="F8FAFC"/>
                </a:solidFill>
                <a:latin typeface="Arial"/>
              </a:defRPr>
            </a:pPr>
            <a:r>
              <a:t>• Linux Seccomp &amp; eBPF Syscall Shield: </a:t>
            </a:r>
            <a:r>
              <a:rPr b="0">
                <a:solidFill>
                  <a:srgbClr val="94A3B8"/>
                </a:solidFill>
              </a:rPr>
              <a:t>Blocks malicious calls: SYS_ptrace (memory snooping), SYS_socket (network traffic), and CLONE_NEWUSER (privilege escalation).</a:t>
            </a:r>
          </a:p>
          <a:p>
            <a:pPr>
              <a:defRPr b="1" sz="950">
                <a:solidFill>
                  <a:srgbClr val="F8FAFC"/>
                </a:solidFill>
                <a:latin typeface="Arial"/>
              </a:defRPr>
            </a:pPr>
            <a:r>
              <a:t>• Distributed Redis Job Queue: </a:t>
            </a:r>
            <a:r>
              <a:rPr b="0">
                <a:solidFill>
                  <a:srgbClr val="94A3B8"/>
                </a:solidFill>
              </a:rPr>
              <a:t>Sub-4ms dispatch latency with automated worker scaling across EU, US, and APAC clusters.</a:t>
            </a:r>
          </a:p>
          <a:p>
            <a:pPr>
              <a:defRPr b="1" sz="950">
                <a:solidFill>
                  <a:srgbClr val="F8FAFC"/>
                </a:solidFill>
                <a:latin typeface="Arial"/>
              </a:defRPr>
            </a:pPr>
            <a:r>
              <a:t>• Live Cluster Telemetry: </a:t>
            </a:r>
            <a:r>
              <a:rPr b="0">
                <a:solidFill>
                  <a:srgbClr val="94A3B8"/>
                </a:solidFill>
              </a:rPr>
              <a:t>Monitors active sandboxes, blocked syscalls, and worker CPU/RAM utilization in real time.</a:t>
            </a:r>
          </a:p>
        </p:txBody>
      </p:sp>
      <p:sp>
        <p:nvSpPr>
          <p:cNvPr id="9" name="Rounded Rectangle 8"/>
          <p:cNvSpPr/>
          <p:nvPr/>
        </p:nvSpPr>
        <p:spPr>
          <a:xfrm>
            <a:off x="6217920" y="1645920"/>
            <a:ext cx="5212080" cy="3840480"/>
          </a:xfrm>
          <a:prstGeom prst="roundRect">
            <a:avLst/>
          </a:prstGeom>
          <a:solidFill>
            <a:srgbClr val="121E2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83080"/>
            <a:ext cx="4937760" cy="3566160"/>
          </a:xfrm>
          <a:prstGeom prst="rect">
            <a:avLst/>
          </a:prstGeom>
          <a:noFill/>
        </p:spPr>
        <p:txBody>
          <a:bodyPr wrap="square">
            <a:spAutoFit/>
          </a:bodyPr>
          <a:lstStyle/>
          <a:p>
            <a:pPr>
              <a:defRPr sz="1300" b="1">
                <a:solidFill>
                  <a:srgbClr val="10B981"/>
                </a:solidFill>
                <a:latin typeface="Arial"/>
              </a:defRPr>
            </a:pPr>
            <a:r>
              <a:t>📊 Multi-Dimensional Automated Grading Rubric</a:t>
            </a:r>
          </a:p>
          <a:p>
            <a:pPr>
              <a:defRPr b="1" sz="950">
                <a:solidFill>
                  <a:srgbClr val="F8FAFC"/>
                </a:solidFill>
                <a:latin typeface="Arial"/>
              </a:defRPr>
            </a:pPr>
            <a:r>
              <a:t>• 50% Test Correctness: </a:t>
            </a:r>
            <a:r>
              <a:rPr b="0">
                <a:solidFill>
                  <a:srgbClr val="94A3B8"/>
                </a:solidFill>
              </a:rPr>
              <a:t>Evaluates visible functional tests + hidden edge-case scale tests (10,000 array elements, negative offsets).</a:t>
            </a:r>
          </a:p>
          <a:p>
            <a:pPr>
              <a:defRPr b="1" sz="950">
                <a:solidFill>
                  <a:srgbClr val="F8FAFC"/>
                </a:solidFill>
                <a:latin typeface="Arial"/>
              </a:defRPr>
            </a:pPr>
            <a:r>
              <a:t>• 25% Code Quality &amp; Style: </a:t>
            </a:r>
            <a:r>
              <a:rPr b="0">
                <a:solidFill>
                  <a:srgbClr val="94A3B8"/>
                </a:solidFill>
              </a:rPr>
              <a:t>Measures clean naming, modularity, comments, language idioms, and maintainability.</a:t>
            </a:r>
          </a:p>
          <a:p>
            <a:pPr>
              <a:defRPr b="1" sz="950">
                <a:solidFill>
                  <a:srgbClr val="F8FAFC"/>
                </a:solidFill>
                <a:latin typeface="Arial"/>
              </a:defRPr>
            </a:pPr>
            <a:r>
              <a:t>• 15% Security &amp; Memory Safety: </a:t>
            </a:r>
            <a:r>
              <a:rPr b="0">
                <a:solidFill>
                  <a:srgbClr val="94A3B8"/>
                </a:solidFill>
              </a:rPr>
              <a:t>Enforces safe memory boundaries with zero illegal syscall violations.</a:t>
            </a:r>
          </a:p>
          <a:p>
            <a:pPr>
              <a:defRPr b="1" sz="950">
                <a:solidFill>
                  <a:srgbClr val="F8FAFC"/>
                </a:solidFill>
                <a:latin typeface="Arial"/>
              </a:defRPr>
            </a:pPr>
            <a:r>
              <a:t>• 10% Big-O Complexity Bonus: </a:t>
            </a:r>
            <a:r>
              <a:rPr b="0">
                <a:solidFill>
                  <a:srgbClr val="94A3B8"/>
                </a:solidFill>
              </a:rPr>
              <a:t>Automated Big-O inference rewarding O(N) hash algorithms over O(N²) brute-force.</a:t>
            </a:r>
          </a:p>
          <a:p>
            <a:pPr>
              <a:defRPr b="1" sz="950">
                <a:solidFill>
                  <a:srgbClr val="F8FAFC"/>
                </a:solidFill>
                <a:latin typeface="Arial"/>
              </a:defRPr>
            </a:pPr>
            <a:r>
              <a:t>• Printable Assessment Certificate: </a:t>
            </a:r>
            <a:r>
              <a:rPr b="0">
                <a:solidFill>
                  <a:srgbClr val="94A3B8"/>
                </a:solidFill>
              </a:rPr>
              <a:t>Generates official engineering reports with LTTS enterprise verification seals.</a:t>
            </a:r>
          </a:p>
        </p:txBody>
      </p:sp>
      <p:sp>
        <p:nvSpPr>
          <p:cNvPr id="11" name="Rounded Rectangle 10"/>
          <p:cNvSpPr/>
          <p:nvPr/>
        </p:nvSpPr>
        <p:spPr>
          <a:xfrm>
            <a:off x="731520" y="5623560"/>
            <a:ext cx="10728655" cy="685800"/>
          </a:xfrm>
          <a:prstGeom prst="roundRect">
            <a:avLst/>
          </a:prstGeom>
          <a:solidFill>
            <a:srgbClr val="0F17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715000"/>
            <a:ext cx="10332720" cy="502920"/>
          </a:xfrm>
          <a:prstGeom prst="rect">
            <a:avLst/>
          </a:prstGeom>
          <a:noFill/>
        </p:spPr>
        <p:txBody>
          <a:bodyPr wrap="none">
            <a:spAutoFit/>
          </a:bodyPr>
          <a:lstStyle/>
          <a:p>
            <a:pPr algn="ctr">
              <a:defRPr sz="1050" b="1">
                <a:solidFill>
                  <a:srgbClr val="06B6D4"/>
                </a:solidFill>
                <a:latin typeface="Arial"/>
              </a:defRPr>
            </a:pPr>
            <a:r>
              <a:t>⚡ Live Cluster Telemetry:  18,452 Sandboxes Spawned  |  312 Syscalls Blocked  |  124.5 Jobs/Sec Throughput  |  99.99% SLA Operational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a:spAutoFit/>
          </a:bodyPr>
          <a:lstStyle/>
          <a:p>
            <a:pPr>
              <a:defRPr sz="1000" b="1">
                <a:solidFill>
                  <a:srgbClr val="06B6D4"/>
                </a:solidFill>
                <a:latin typeface="Arial"/>
              </a:defRPr>
            </a:pPr>
            <a:r>
              <a:t>BUSINESS ROI &amp; CONCLUSION</a:t>
            </a:r>
          </a:p>
        </p:txBody>
      </p:sp>
      <p:sp>
        <p:nvSpPr>
          <p:cNvPr id="4" name="TextBox 3"/>
          <p:cNvSpPr txBox="1"/>
          <p:nvPr/>
        </p:nvSpPr>
        <p:spPr>
          <a:xfrm>
            <a:off x="731520" y="640080"/>
            <a:ext cx="9144000" cy="548640"/>
          </a:xfrm>
          <a:prstGeom prst="rect">
            <a:avLst/>
          </a:prstGeom>
          <a:noFill/>
        </p:spPr>
        <p:txBody>
          <a:bodyPr wrap="square">
            <a:spAutoFit/>
          </a:bodyPr>
          <a:lstStyle/>
          <a:p>
            <a:pPr>
              <a:defRPr sz="2200" b="1">
                <a:solidFill>
                  <a:srgbClr val="F8FAFC"/>
                </a:solidFill>
                <a:latin typeface="Arial"/>
              </a:defRPr>
            </a:pPr>
            <a:r>
              <a:t>Market Impact, Live Demo Flow &amp; Why PolyCode Wins</a:t>
            </a:r>
          </a:p>
        </p:txBody>
      </p:sp>
      <p:sp>
        <p:nvSpPr>
          <p:cNvPr id="5" name="TextBox 4"/>
          <p:cNvSpPr txBox="1"/>
          <p:nvPr/>
        </p:nvSpPr>
        <p:spPr>
          <a:xfrm>
            <a:off x="731520" y="1143000"/>
            <a:ext cx="9601200" cy="365760"/>
          </a:xfrm>
          <a:prstGeom prst="rect">
            <a:avLst/>
          </a:prstGeom>
          <a:noFill/>
        </p:spPr>
        <p:txBody>
          <a:bodyPr wrap="square">
            <a:spAutoFit/>
          </a:bodyPr>
          <a:lstStyle/>
          <a:p>
            <a:pPr>
              <a:defRPr sz="1200">
                <a:solidFill>
                  <a:srgbClr val="94A3B8"/>
                </a:solidFill>
                <a:latin typeface="Arial"/>
              </a:defRPr>
            </a:pPr>
            <a:r>
              <a:t>Redefining developer assessment for academia, hackathons, and enterprise hiring</a:t>
            </a:r>
          </a:p>
        </p:txBody>
      </p:sp>
      <p:sp>
        <p:nvSpPr>
          <p:cNvPr id="6" name="TextBox 5"/>
          <p:cNvSpPr txBox="1"/>
          <p:nvPr/>
        </p:nvSpPr>
        <p:spPr>
          <a:xfrm>
            <a:off x="10332720" y="457200"/>
            <a:ext cx="1188720" cy="365760"/>
          </a:xfrm>
          <a:prstGeom prst="rect">
            <a:avLst/>
          </a:prstGeom>
          <a:noFill/>
        </p:spPr>
        <p:txBody>
          <a:bodyPr wrap="none">
            <a:spAutoFit/>
          </a:bodyPr>
          <a:lstStyle/>
          <a:p>
            <a:pPr algn="r">
              <a:defRPr sz="1100" b="1">
                <a:solidFill>
                  <a:srgbClr val="6366F1"/>
                </a:solidFill>
                <a:latin typeface="Arial"/>
              </a:defRPr>
            </a:pPr>
            <a:r>
              <a:t>Slide 5 / 5</a:t>
            </a:r>
          </a:p>
        </p:txBody>
      </p:sp>
      <p:sp>
        <p:nvSpPr>
          <p:cNvPr id="7" name="Rounded Rectangle 6"/>
          <p:cNvSpPr/>
          <p:nvPr/>
        </p:nvSpPr>
        <p:spPr>
          <a:xfrm>
            <a:off x="731520" y="1645920"/>
            <a:ext cx="3413455" cy="1828800"/>
          </a:xfrm>
          <a:prstGeom prst="roundRect">
            <a:avLst/>
          </a:prstGeom>
          <a:solidFill>
            <a:srgbClr val="161E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3108960" cy="1645920"/>
          </a:xfrm>
          <a:prstGeom prst="rect">
            <a:avLst/>
          </a:prstGeom>
          <a:noFill/>
        </p:spPr>
        <p:txBody>
          <a:bodyPr wrap="square">
            <a:spAutoFit/>
          </a:bodyPr>
          <a:lstStyle/>
          <a:p>
            <a:pPr>
              <a:defRPr sz="2600" b="1">
                <a:solidFill>
                  <a:srgbClr val="10B981"/>
                </a:solidFill>
                <a:latin typeface="Arial"/>
              </a:defRPr>
            </a:pPr>
            <a:r>
              <a:t>85%</a:t>
            </a:r>
          </a:p>
          <a:p>
            <a:pPr>
              <a:defRPr sz="1000" b="1">
                <a:solidFill>
                  <a:srgbClr val="F8FAFC"/>
                </a:solidFill>
                <a:latin typeface="Arial"/>
              </a:defRPr>
            </a:pPr>
            <a:r>
              <a:t>MANUAL REVIEW TIME SAVED</a:t>
            </a:r>
          </a:p>
          <a:p>
            <a:pPr>
              <a:defRPr sz="850">
                <a:solidFill>
                  <a:srgbClr val="94A3B8"/>
                </a:solidFill>
                <a:latin typeface="Arial"/>
              </a:defRPr>
            </a:pPr>
            <a:r>
              <a:t>Automated rubric scoring replaces manual grading for professors &amp; technical recruiters.</a:t>
            </a:r>
          </a:p>
        </p:txBody>
      </p:sp>
      <p:sp>
        <p:nvSpPr>
          <p:cNvPr id="9" name="Rounded Rectangle 8"/>
          <p:cNvSpPr/>
          <p:nvPr/>
        </p:nvSpPr>
        <p:spPr>
          <a:xfrm>
            <a:off x="4389120" y="1645920"/>
            <a:ext cx="3413455" cy="1828800"/>
          </a:xfrm>
          <a:prstGeom prst="roundRect">
            <a:avLst/>
          </a:prstGeom>
          <a:solidFill>
            <a:srgbClr val="161E31"/>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737360"/>
            <a:ext cx="3108960" cy="1645920"/>
          </a:xfrm>
          <a:prstGeom prst="rect">
            <a:avLst/>
          </a:prstGeom>
          <a:noFill/>
        </p:spPr>
        <p:txBody>
          <a:bodyPr wrap="square">
            <a:spAutoFit/>
          </a:bodyPr>
          <a:lstStyle/>
          <a:p>
            <a:pPr>
              <a:defRPr sz="2600" b="1">
                <a:solidFill>
                  <a:srgbClr val="06B6D4"/>
                </a:solidFill>
                <a:latin typeface="Arial"/>
              </a:defRPr>
            </a:pPr>
            <a:r>
              <a:t>95%</a:t>
            </a:r>
          </a:p>
          <a:p>
            <a:pPr>
              <a:defRPr sz="1000" b="1">
                <a:solidFill>
                  <a:srgbClr val="F8FAFC"/>
                </a:solidFill>
                <a:latin typeface="Arial"/>
              </a:defRPr>
            </a:pPr>
            <a:r>
              <a:t>AI FRAUD DETECTION ACCURACY</a:t>
            </a:r>
          </a:p>
          <a:p>
            <a:pPr>
              <a:defRPr sz="850">
                <a:solidFill>
                  <a:srgbClr val="94A3B8"/>
                </a:solidFill>
                <a:latin typeface="Arial"/>
              </a:defRPr>
            </a:pPr>
            <a:r>
              <a:t>Winnowing + AST isomorphism stops LLM copy-pasting that bypasses standard string matchers.</a:t>
            </a:r>
          </a:p>
        </p:txBody>
      </p:sp>
      <p:sp>
        <p:nvSpPr>
          <p:cNvPr id="11" name="Rounded Rectangle 10"/>
          <p:cNvSpPr/>
          <p:nvPr/>
        </p:nvSpPr>
        <p:spPr>
          <a:xfrm>
            <a:off x="8046720" y="1645920"/>
            <a:ext cx="3413455" cy="1828800"/>
          </a:xfrm>
          <a:prstGeom prst="roundRect">
            <a:avLst/>
          </a:prstGeom>
          <a:solidFill>
            <a:srgbClr val="161E31"/>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737360"/>
            <a:ext cx="3108960" cy="1645920"/>
          </a:xfrm>
          <a:prstGeom prst="rect">
            <a:avLst/>
          </a:prstGeom>
          <a:noFill/>
        </p:spPr>
        <p:txBody>
          <a:bodyPr wrap="square">
            <a:spAutoFit/>
          </a:bodyPr>
          <a:lstStyle/>
          <a:p>
            <a:pPr>
              <a:defRPr sz="2600" b="1">
                <a:solidFill>
                  <a:srgbClr val="A855F7"/>
                </a:solidFill>
                <a:latin typeface="Arial"/>
              </a:defRPr>
            </a:pPr>
            <a:r>
              <a:t>10x</a:t>
            </a:r>
          </a:p>
          <a:p>
            <a:pPr>
              <a:defRPr sz="1000" b="1">
                <a:solidFill>
                  <a:srgbClr val="F8FAFC"/>
                </a:solidFill>
                <a:latin typeface="Arial"/>
              </a:defRPr>
            </a:pPr>
            <a:r>
              <a:t>DEEPER LEARNING VALUE</a:t>
            </a:r>
          </a:p>
          <a:p>
            <a:pPr>
              <a:defRPr sz="850">
                <a:solidFill>
                  <a:srgbClr val="94A3B8"/>
                </a:solidFill>
                <a:latin typeface="Arial"/>
              </a:defRPr>
            </a:pPr>
            <a:r>
              <a:t>Students visually understand how algorithms translate to assembly, fostering genuine depth.</a:t>
            </a:r>
          </a:p>
        </p:txBody>
      </p:sp>
      <p:sp>
        <p:nvSpPr>
          <p:cNvPr id="13" name="Rounded Rectangle 12"/>
          <p:cNvSpPr/>
          <p:nvPr/>
        </p:nvSpPr>
        <p:spPr>
          <a:xfrm>
            <a:off x="731520" y="3657600"/>
            <a:ext cx="10728655" cy="1463040"/>
          </a:xfrm>
          <a:prstGeom prst="roundRect">
            <a:avLst/>
          </a:prstGeom>
          <a:solidFill>
            <a:srgbClr val="101726"/>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49039"/>
            <a:ext cx="10332720" cy="1280160"/>
          </a:xfrm>
          <a:prstGeom prst="rect">
            <a:avLst/>
          </a:prstGeom>
          <a:noFill/>
        </p:spPr>
        <p:txBody>
          <a:bodyPr wrap="square">
            <a:spAutoFit/>
          </a:bodyPr>
          <a:lstStyle/>
          <a:p>
            <a:pPr>
              <a:defRPr sz="1200" b="1">
                <a:solidFill>
                  <a:srgbClr val="6366F1"/>
                </a:solidFill>
                <a:latin typeface="Arial"/>
              </a:defRPr>
            </a:pPr>
            <a:r>
              <a:t>🎬 2-Minute Live Demo Roadmap for Judges</a:t>
            </a:r>
          </a:p>
          <a:p>
            <a:pPr>
              <a:defRPr sz="950">
                <a:solidFill>
                  <a:srgbClr val="F8FAFC"/>
                </a:solidFill>
                <a:latin typeface="Arial"/>
              </a:defRPr>
            </a:pPr>
            <a:r>
              <a:t>1. Sandbox Editor: Run Python code -&gt; real-time stdout, memory KB, execution ms, and test passing confetti.</a:t>
            </a:r>
            <a:br/>
            <a:r>
              <a:t>2. Compiler Visualizer: Step through Tokens, AST tree, Symbol Table stack offsets, and x86-64 Disassembly.</a:t>
            </a:r>
            <a:br/>
            <a:r>
              <a:t>3. Plagiarism Radar: Demonstrate Winnowing hash score &amp; side-by-side diff against ChatGPT canonical code.</a:t>
            </a:r>
            <a:br/>
            <a:r>
              <a:t>4. AI Rubric &amp; LTTS Infra: Inspect A+ scorecard, export Certificate, and view live gVisor cluster telemetry.</a:t>
            </a:r>
          </a:p>
        </p:txBody>
      </p:sp>
      <p:sp>
        <p:nvSpPr>
          <p:cNvPr id="15" name="Rounded Rectangle 14"/>
          <p:cNvSpPr/>
          <p:nvPr/>
        </p:nvSpPr>
        <p:spPr>
          <a:xfrm>
            <a:off x="731520" y="5303520"/>
            <a:ext cx="10728655" cy="1005840"/>
          </a:xfrm>
          <a:prstGeom prst="roundRect">
            <a:avLst/>
          </a:prstGeom>
          <a:solidFill>
            <a:srgbClr val="161E3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94960"/>
            <a:ext cx="10332720" cy="822960"/>
          </a:xfrm>
          <a:prstGeom prst="rect">
            <a:avLst/>
          </a:prstGeom>
          <a:noFill/>
        </p:spPr>
        <p:txBody>
          <a:bodyPr wrap="square">
            <a:spAutoFit/>
          </a:bodyPr>
          <a:lstStyle/>
          <a:p>
            <a:pPr algn="ctr">
              <a:defRPr sz="1600" b="1">
                <a:solidFill>
                  <a:srgbClr val="F8FAFC"/>
                </a:solidFill>
                <a:latin typeface="Arial"/>
              </a:defRPr>
            </a:pPr>
            <a:r>
              <a:t>PolyCode: The Future of Developer Assessment &amp; Compiler Intelligence</a:t>
            </a:r>
          </a:p>
          <a:p>
            <a:pPr algn="ctr">
              <a:defRPr sz="1100">
                <a:solidFill>
                  <a:srgbClr val="06B6D4"/>
                </a:solidFill>
                <a:latin typeface="Arial"/>
              </a:defRPr>
            </a:pPr>
            <a:r>
              <a:t>Thank you! We are now open for Questions &amp;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